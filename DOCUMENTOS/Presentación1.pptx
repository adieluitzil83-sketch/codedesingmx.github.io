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BFA9"/>
    <a:srgbClr val="FA7E90"/>
    <a:srgbClr val="7F8078"/>
    <a:srgbClr val="04983C"/>
    <a:srgbClr val="E7C272"/>
    <a:srgbClr val="D09D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07:17.057"/>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1 0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7T05:07:28.456"/>
    </inkml:context>
    <inkml:brush xml:id="br0">
      <inkml:brushProperty name="width" value="0.1" units="cm"/>
      <inkml:brushProperty name="height" value="0.1" units="cm"/>
      <inkml:brushProperty name="color" value="#008C3A"/>
    </inkml:brush>
  </inkml:definitions>
  <inkml:trace contextRef="#ctx0" brushRef="#br0">1 0 6553,'0'0'0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B33B26-2CDB-2C62-D5BD-A58C56FB74B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51780EF3-9905-2354-F768-D804AF14BF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7E796A7C-BE8B-C700-F87A-8710459B2B2E}"/>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5" name="Marcador de pie de página 4">
            <a:extLst>
              <a:ext uri="{FF2B5EF4-FFF2-40B4-BE49-F238E27FC236}">
                <a16:creationId xmlns:a16="http://schemas.microsoft.com/office/drawing/2014/main" id="{977FDE6A-5E42-CDE9-525F-FBE53AD0BB0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7A31EFB-53A4-57EF-1942-C170A6998DAF}"/>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3438223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89383-311B-426A-EDE5-BBAA2501872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6AA3AC7-5A59-8E47-ECFE-0CB7F49A69B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6E7C669-39E8-90B7-C1BE-55A0D81E96F6}"/>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5" name="Marcador de pie de página 4">
            <a:extLst>
              <a:ext uri="{FF2B5EF4-FFF2-40B4-BE49-F238E27FC236}">
                <a16:creationId xmlns:a16="http://schemas.microsoft.com/office/drawing/2014/main" id="{7B0EB949-E351-C1DF-ADB9-D2E9D48AD3B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3231A8F-893F-3429-664D-E4273EDE7B93}"/>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2890959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D903E1-6D52-6AF7-3F6F-E5A4E6A86B5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CEE00BE-5CFF-32E5-65B2-721368A586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E3EE2F8F-4151-EB5F-A8AD-C9BFE01692C5}"/>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5" name="Marcador de pie de página 4">
            <a:extLst>
              <a:ext uri="{FF2B5EF4-FFF2-40B4-BE49-F238E27FC236}">
                <a16:creationId xmlns:a16="http://schemas.microsoft.com/office/drawing/2014/main" id="{A85C6053-E839-B32F-81D0-05FF4D00129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B48B699-39C5-4D14-732B-485C18BCEF34}"/>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1323008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71EFC3-FF20-4AE4-9240-27401F4B034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A0EBF75-069E-03AA-B339-17DDFCDCFAC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1DEEC5D-7EAE-B7D5-4B8A-4E95866769F4}"/>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355BD000-A457-F241-90AA-A526B1A184E8}"/>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6" name="Marcador de pie de página 5">
            <a:extLst>
              <a:ext uri="{FF2B5EF4-FFF2-40B4-BE49-F238E27FC236}">
                <a16:creationId xmlns:a16="http://schemas.microsoft.com/office/drawing/2014/main" id="{63CEAA4F-DFBE-A5B3-382E-C6A853387356}"/>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ABD1E09-DBC6-265E-D53B-5CA97BCB45A6}"/>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2159997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D48A28-AFC3-6C57-F9DA-C1E6DE613C5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914367A-0CD7-C434-E0AD-D78ECE6936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1932317-9C67-AA14-B4F4-F7BEFD1F362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ABFBA7BC-1782-37CC-8AFB-3394FEAFCB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ED1A3601-3710-9559-DA34-3CC8D9B81F4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6FF68242-D210-6BED-7760-8CD51DF381DB}"/>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8" name="Marcador de pie de página 7">
            <a:extLst>
              <a:ext uri="{FF2B5EF4-FFF2-40B4-BE49-F238E27FC236}">
                <a16:creationId xmlns:a16="http://schemas.microsoft.com/office/drawing/2014/main" id="{7F680DDE-07EE-4A16-FE96-FD42219EBEDF}"/>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AE8E6D3E-6C57-1728-BD3E-B4AB6DAB961A}"/>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38805808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17516F-4EE5-4EA7-7F0D-65A1F1C815B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EDC36AFB-37FD-A768-0AA2-E2D0FE644EDD}"/>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4" name="Marcador de pie de página 3">
            <a:extLst>
              <a:ext uri="{FF2B5EF4-FFF2-40B4-BE49-F238E27FC236}">
                <a16:creationId xmlns:a16="http://schemas.microsoft.com/office/drawing/2014/main" id="{72798074-EFFC-4CBF-DDD6-20275412D339}"/>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912BAC5B-CBDF-F962-B02F-C6FF41056FFF}"/>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46726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C55B3F3-98F0-7C71-A8F4-E86B8E21DA2A}"/>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3" name="Marcador de pie de página 2">
            <a:extLst>
              <a:ext uri="{FF2B5EF4-FFF2-40B4-BE49-F238E27FC236}">
                <a16:creationId xmlns:a16="http://schemas.microsoft.com/office/drawing/2014/main" id="{A275F979-09DC-B060-D821-3D593E44E331}"/>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1A91285F-3ED2-5343-9DDF-0CDF155CEED8}"/>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4268192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97BE7B-B842-D20B-9A14-16C3E3EBF79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1B179C2-BFC7-0B29-8EF3-A4D268C2F7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BC991278-8292-A9F6-4DD5-E7EC124793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FEE9236-E3E0-8D0B-BA86-5A9D1F484B4A}"/>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6" name="Marcador de pie de página 5">
            <a:extLst>
              <a:ext uri="{FF2B5EF4-FFF2-40B4-BE49-F238E27FC236}">
                <a16:creationId xmlns:a16="http://schemas.microsoft.com/office/drawing/2014/main" id="{1A888CF2-16A0-4DE2-D5A9-E4D812B32BC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44D8839-9F54-2080-30EE-E4C5FD7DC99A}"/>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4038841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6766F9-D90C-F23C-2095-FC362EDF015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CB17CC4D-675A-A715-B99A-15F2DF260E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7C4CCACC-1FA3-77DF-0383-9E10B8C786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1638A1-7C1F-3738-6D96-5CBF8144C2CB}"/>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6" name="Marcador de pie de página 5">
            <a:extLst>
              <a:ext uri="{FF2B5EF4-FFF2-40B4-BE49-F238E27FC236}">
                <a16:creationId xmlns:a16="http://schemas.microsoft.com/office/drawing/2014/main" id="{DDBDFC36-84EA-9E75-1C94-F8510946E0E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F8E5560-2CE7-C76D-87E2-47DC18555BCA}"/>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246106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7A3168-2524-7B1F-17CA-3361756E01E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93ED1BF-C22A-7D31-7804-D8A7FC2DA87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4B8D18D-B2B2-BBB1-199C-5D59B50BE5AD}"/>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5" name="Marcador de pie de página 4">
            <a:extLst>
              <a:ext uri="{FF2B5EF4-FFF2-40B4-BE49-F238E27FC236}">
                <a16:creationId xmlns:a16="http://schemas.microsoft.com/office/drawing/2014/main" id="{011FCC80-F284-2C04-0CA5-675C7364B4B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9B5EAF-9A80-BDCD-5770-97685B61005E}"/>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1903416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2A5B7E2-2474-AA90-6D2E-0F6CBB8781F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906D869-72AA-2E67-8615-DD8D654076F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E299B14-388C-4CF8-09EB-F13C69FED666}"/>
              </a:ext>
            </a:extLst>
          </p:cNvPr>
          <p:cNvSpPr>
            <a:spLocks noGrp="1"/>
          </p:cNvSpPr>
          <p:nvPr>
            <p:ph type="dt" sz="half" idx="10"/>
          </p:nvPr>
        </p:nvSpPr>
        <p:spPr/>
        <p:txBody>
          <a:bodyPr/>
          <a:lstStyle/>
          <a:p>
            <a:fld id="{7387EDCD-6A73-4A25-B109-A10D8A0BA515}" type="datetimeFigureOut">
              <a:rPr lang="es-MX" smtClean="0"/>
              <a:t>17/03/2026</a:t>
            </a:fld>
            <a:endParaRPr lang="es-MX"/>
          </a:p>
        </p:txBody>
      </p:sp>
      <p:sp>
        <p:nvSpPr>
          <p:cNvPr id="5" name="Marcador de pie de página 4">
            <a:extLst>
              <a:ext uri="{FF2B5EF4-FFF2-40B4-BE49-F238E27FC236}">
                <a16:creationId xmlns:a16="http://schemas.microsoft.com/office/drawing/2014/main" id="{E6F312A5-AE27-BEF9-C672-96F22F3AC81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F326AF0-FB94-E3FA-B45A-1217FF2D5EA2}"/>
              </a:ext>
            </a:extLst>
          </p:cNvPr>
          <p:cNvSpPr>
            <a:spLocks noGrp="1"/>
          </p:cNvSpPr>
          <p:nvPr>
            <p:ph type="sldNum" sz="quarter" idx="12"/>
          </p:nvPr>
        </p:nvSpPr>
        <p:spPr/>
        <p:txBody>
          <a:bodyPr/>
          <a:lstStyle/>
          <a:p>
            <a:fld id="{35185FBE-E819-417F-B7FB-4FDE9EDEE3AE}" type="slidenum">
              <a:rPr lang="es-MX" smtClean="0"/>
              <a:t>‹Nº›</a:t>
            </a:fld>
            <a:endParaRPr lang="es-MX"/>
          </a:p>
        </p:txBody>
      </p:sp>
    </p:spTree>
    <p:extLst>
      <p:ext uri="{BB962C8B-B14F-4D97-AF65-F5344CB8AC3E}">
        <p14:creationId xmlns:p14="http://schemas.microsoft.com/office/powerpoint/2010/main" val="713348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1DF9A99-D0C6-D941-1A50-8C26B8A4B5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4132F72-885A-592B-9A14-91E46CAF52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4401F6C-5645-F43A-F75C-82ACA61318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87EDCD-6A73-4A25-B109-A10D8A0BA515}" type="datetimeFigureOut">
              <a:rPr lang="es-MX" smtClean="0"/>
              <a:t>17/03/2026</a:t>
            </a:fld>
            <a:endParaRPr lang="es-MX"/>
          </a:p>
        </p:txBody>
      </p:sp>
      <p:sp>
        <p:nvSpPr>
          <p:cNvPr id="5" name="Marcador de pie de página 4">
            <a:extLst>
              <a:ext uri="{FF2B5EF4-FFF2-40B4-BE49-F238E27FC236}">
                <a16:creationId xmlns:a16="http://schemas.microsoft.com/office/drawing/2014/main" id="{FB8D02AB-3620-BFFA-FE0B-CF5C6F202C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7108D566-7458-014A-C828-E38B687134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185FBE-E819-417F-B7FB-4FDE9EDEE3AE}" type="slidenum">
              <a:rPr lang="es-MX" smtClean="0"/>
              <a:t>‹Nº›</a:t>
            </a:fld>
            <a:endParaRPr lang="es-MX"/>
          </a:p>
        </p:txBody>
      </p:sp>
    </p:spTree>
    <p:extLst>
      <p:ext uri="{BB962C8B-B14F-4D97-AF65-F5344CB8AC3E}">
        <p14:creationId xmlns:p14="http://schemas.microsoft.com/office/powerpoint/2010/main" val="1671069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audio" Target="../media/audio1.wav"/><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audio" Target="../media/audio2.wav"/><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audio" Target="../media/audio3.wav"/><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audio" Target="../media/audio4.wav"/><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audio" Target="../media/audio5.wav"/><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audio" Target="../media/audio6.wav"/><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audio" Target="../media/audio7.wav"/><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customXml" Target="../ink/ink1.xml"/><Relationship Id="rId7" Type="http://schemas.openxmlformats.org/officeDocument/2006/relationships/image" Target="../media/image15.jpeg"/><Relationship Id="rId2" Type="http://schemas.openxmlformats.org/officeDocument/2006/relationships/audio" Target="../media/audio8.wav"/><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customXml" Target="../ink/ink2.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46D3A5-F930-545B-6E08-B9ADE0ECF090}"/>
              </a:ext>
            </a:extLst>
          </p:cNvPr>
          <p:cNvSpPr>
            <a:spLocks noGrp="1"/>
          </p:cNvSpPr>
          <p:nvPr>
            <p:ph type="ctrTitle"/>
          </p:nvPr>
        </p:nvSpPr>
        <p:spPr/>
        <p:txBody>
          <a:bodyPr/>
          <a:lstStyle/>
          <a:p>
            <a:endParaRPr lang="es-MX" dirty="0"/>
          </a:p>
        </p:txBody>
      </p:sp>
      <p:sp>
        <p:nvSpPr>
          <p:cNvPr id="3" name="Subtítulo 2">
            <a:extLst>
              <a:ext uri="{FF2B5EF4-FFF2-40B4-BE49-F238E27FC236}">
                <a16:creationId xmlns:a16="http://schemas.microsoft.com/office/drawing/2014/main" id="{9EF5C202-CDE5-31A5-5346-CDC43EC76B87}"/>
              </a:ext>
            </a:extLst>
          </p:cNvPr>
          <p:cNvSpPr>
            <a:spLocks noGrp="1"/>
          </p:cNvSpPr>
          <p:nvPr>
            <p:ph type="subTitle" idx="1"/>
          </p:nvPr>
        </p:nvSpPr>
        <p:spPr/>
        <p:txBody>
          <a:bodyPr/>
          <a:lstStyle/>
          <a:p>
            <a:endParaRPr lang="es-MX" dirty="0"/>
          </a:p>
        </p:txBody>
      </p:sp>
      <p:pic>
        <p:nvPicPr>
          <p:cNvPr id="5" name="Imagen 4">
            <a:extLst>
              <a:ext uri="{FF2B5EF4-FFF2-40B4-BE49-F238E27FC236}">
                <a16:creationId xmlns:a16="http://schemas.microsoft.com/office/drawing/2014/main" id="{E5778F7E-032E-B9AD-B737-85720CEF59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CuadroTexto 5">
            <a:extLst>
              <a:ext uri="{FF2B5EF4-FFF2-40B4-BE49-F238E27FC236}">
                <a16:creationId xmlns:a16="http://schemas.microsoft.com/office/drawing/2014/main" id="{C7582398-B1F9-6DDB-22B4-D2729D6D2C81}"/>
              </a:ext>
            </a:extLst>
          </p:cNvPr>
          <p:cNvSpPr txBox="1"/>
          <p:nvPr/>
        </p:nvSpPr>
        <p:spPr>
          <a:xfrm>
            <a:off x="3080657" y="537588"/>
            <a:ext cx="5693229" cy="584775"/>
          </a:xfrm>
          <a:prstGeom prst="rect">
            <a:avLst/>
          </a:prstGeom>
          <a:noFill/>
        </p:spPr>
        <p:txBody>
          <a:bodyPr wrap="square" rtlCol="0">
            <a:spAutoFit/>
          </a:bodyPr>
          <a:lstStyle/>
          <a:p>
            <a:pPr algn="ctr"/>
            <a:r>
              <a:rPr lang="es-MX" sz="3200" dirty="0">
                <a:latin typeface="Bell MT" panose="02020503060305020303" pitchFamily="18" charset="0"/>
              </a:rPr>
              <a:t>Cultivo de sandia/ Milpa maya</a:t>
            </a:r>
          </a:p>
        </p:txBody>
      </p:sp>
      <p:sp>
        <p:nvSpPr>
          <p:cNvPr id="7" name="CuadroTexto 6">
            <a:extLst>
              <a:ext uri="{FF2B5EF4-FFF2-40B4-BE49-F238E27FC236}">
                <a16:creationId xmlns:a16="http://schemas.microsoft.com/office/drawing/2014/main" id="{F93D486D-D4E9-0706-6ADD-6DA3F72A6D9F}"/>
              </a:ext>
            </a:extLst>
          </p:cNvPr>
          <p:cNvSpPr txBox="1"/>
          <p:nvPr/>
        </p:nvSpPr>
        <p:spPr>
          <a:xfrm>
            <a:off x="2286000" y="2046514"/>
            <a:ext cx="6335486" cy="461665"/>
          </a:xfrm>
          <a:prstGeom prst="rect">
            <a:avLst/>
          </a:prstGeom>
          <a:noFill/>
        </p:spPr>
        <p:txBody>
          <a:bodyPr wrap="square" rtlCol="0">
            <a:spAutoFit/>
          </a:bodyPr>
          <a:lstStyle/>
          <a:p>
            <a:r>
              <a:rPr lang="es-MX" sz="2400" dirty="0">
                <a:latin typeface="Bell MT" panose="02020503060305020303" pitchFamily="18" charset="0"/>
              </a:rPr>
              <a:t>Nombre: Martha de los Ángeles Notario Chimal</a:t>
            </a:r>
          </a:p>
        </p:txBody>
      </p:sp>
      <p:sp>
        <p:nvSpPr>
          <p:cNvPr id="8" name="CuadroTexto 7">
            <a:extLst>
              <a:ext uri="{FF2B5EF4-FFF2-40B4-BE49-F238E27FC236}">
                <a16:creationId xmlns:a16="http://schemas.microsoft.com/office/drawing/2014/main" id="{6DEC8471-D8A1-C712-006C-1E869C8AD267}"/>
              </a:ext>
            </a:extLst>
          </p:cNvPr>
          <p:cNvSpPr txBox="1"/>
          <p:nvPr/>
        </p:nvSpPr>
        <p:spPr>
          <a:xfrm>
            <a:off x="2286000" y="2695287"/>
            <a:ext cx="6335486" cy="461665"/>
          </a:xfrm>
          <a:prstGeom prst="rect">
            <a:avLst/>
          </a:prstGeom>
          <a:noFill/>
        </p:spPr>
        <p:txBody>
          <a:bodyPr wrap="square" rtlCol="0">
            <a:spAutoFit/>
          </a:bodyPr>
          <a:lstStyle/>
          <a:p>
            <a:r>
              <a:rPr lang="es-MX" sz="2400" dirty="0">
                <a:latin typeface="Bell MT" panose="02020503060305020303" pitchFamily="18" charset="0"/>
              </a:rPr>
              <a:t>Asignatura: Humanidades</a:t>
            </a:r>
            <a:endParaRPr lang="es-MX" sz="2400" dirty="0"/>
          </a:p>
        </p:txBody>
      </p:sp>
      <p:sp>
        <p:nvSpPr>
          <p:cNvPr id="10" name="CuadroTexto 9">
            <a:extLst>
              <a:ext uri="{FF2B5EF4-FFF2-40B4-BE49-F238E27FC236}">
                <a16:creationId xmlns:a16="http://schemas.microsoft.com/office/drawing/2014/main" id="{03124C51-DE3C-2758-133B-00CF167EDB2F}"/>
              </a:ext>
            </a:extLst>
          </p:cNvPr>
          <p:cNvSpPr txBox="1"/>
          <p:nvPr/>
        </p:nvSpPr>
        <p:spPr>
          <a:xfrm>
            <a:off x="2209800" y="3342927"/>
            <a:ext cx="6487886" cy="461665"/>
          </a:xfrm>
          <a:prstGeom prst="rect">
            <a:avLst/>
          </a:prstGeom>
          <a:noFill/>
        </p:spPr>
        <p:txBody>
          <a:bodyPr wrap="square" rtlCol="0">
            <a:spAutoFit/>
          </a:bodyPr>
          <a:lstStyle/>
          <a:p>
            <a:r>
              <a:rPr lang="es-MX" sz="2400" dirty="0">
                <a:latin typeface="Bell MT" panose="02020503060305020303" pitchFamily="18" charset="0"/>
              </a:rPr>
              <a:t>Grado y Grupo: Sexto Semestre “B”</a:t>
            </a:r>
          </a:p>
        </p:txBody>
      </p:sp>
      <p:sp>
        <p:nvSpPr>
          <p:cNvPr id="11" name="CuadroTexto 10">
            <a:extLst>
              <a:ext uri="{FF2B5EF4-FFF2-40B4-BE49-F238E27FC236}">
                <a16:creationId xmlns:a16="http://schemas.microsoft.com/office/drawing/2014/main" id="{5740CFB7-7F8D-BB1F-B117-AD673B243262}"/>
              </a:ext>
            </a:extLst>
          </p:cNvPr>
          <p:cNvSpPr txBox="1"/>
          <p:nvPr/>
        </p:nvSpPr>
        <p:spPr>
          <a:xfrm>
            <a:off x="2286000" y="4071257"/>
            <a:ext cx="7576457" cy="461665"/>
          </a:xfrm>
          <a:prstGeom prst="rect">
            <a:avLst/>
          </a:prstGeom>
          <a:noFill/>
        </p:spPr>
        <p:txBody>
          <a:bodyPr wrap="square" rtlCol="0">
            <a:spAutoFit/>
          </a:bodyPr>
          <a:lstStyle/>
          <a:p>
            <a:r>
              <a:rPr lang="es-MX" sz="2400" dirty="0">
                <a:latin typeface="Bell MT" panose="02020503060305020303" pitchFamily="18" charset="0"/>
              </a:rPr>
              <a:t>Profesor: Jorge Alejandro Soberanis Teran</a:t>
            </a:r>
          </a:p>
        </p:txBody>
      </p:sp>
      <p:pic>
        <p:nvPicPr>
          <p:cNvPr id="9" name="Imagen 8">
            <a:extLst>
              <a:ext uri="{FF2B5EF4-FFF2-40B4-BE49-F238E27FC236}">
                <a16:creationId xmlns:a16="http://schemas.microsoft.com/office/drawing/2014/main" id="{26CFCB46-AF6C-7961-9C75-32A07E8CF7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6463" y="3602038"/>
            <a:ext cx="3671988" cy="2753991"/>
          </a:xfrm>
          <a:prstGeom prst="rect">
            <a:avLst/>
          </a:prstGeom>
          <a:solidFill>
            <a:srgbClr val="FFFFFF">
              <a:shade val="85000"/>
            </a:srgbClr>
          </a:solidFill>
          <a:ln w="88900" cap="sq">
            <a:solidFill>
              <a:srgbClr val="04983C"/>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21605714"/>
      </p:ext>
    </p:extLst>
  </p:cSld>
  <p:clrMapOvr>
    <a:masterClrMapping/>
  </p:clrMapOvr>
  <p:transition spd="slow">
    <p:comb/>
    <p:sndAc>
      <p:stSnd>
        <p:snd r:embed="rId2" name="chimes.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5D6FA4-E1C6-CFC5-B0F8-FCE8E74E2188}"/>
              </a:ext>
            </a:extLst>
          </p:cNvPr>
          <p:cNvSpPr>
            <a:spLocks noGrp="1"/>
          </p:cNvSpPr>
          <p:nvPr>
            <p:ph type="ctrTitle"/>
          </p:nvPr>
        </p:nvSpPr>
        <p:spPr/>
        <p:txBody>
          <a:bodyPr/>
          <a:lstStyle/>
          <a:p>
            <a:endParaRPr lang="es-MX" dirty="0"/>
          </a:p>
        </p:txBody>
      </p:sp>
      <p:sp>
        <p:nvSpPr>
          <p:cNvPr id="3" name="Subtítulo 2">
            <a:extLst>
              <a:ext uri="{FF2B5EF4-FFF2-40B4-BE49-F238E27FC236}">
                <a16:creationId xmlns:a16="http://schemas.microsoft.com/office/drawing/2014/main" id="{7DBC8E79-E006-71D8-D450-CBD8E0E3A8D9}"/>
              </a:ext>
            </a:extLst>
          </p:cNvPr>
          <p:cNvSpPr>
            <a:spLocks noGrp="1"/>
          </p:cNvSpPr>
          <p:nvPr>
            <p:ph type="subTitle" idx="1"/>
          </p:nvPr>
        </p:nvSpPr>
        <p:spPr/>
        <p:txBody>
          <a:bodyPr/>
          <a:lstStyle/>
          <a:p>
            <a:endParaRPr lang="es-MX" dirty="0"/>
          </a:p>
        </p:txBody>
      </p:sp>
      <p:pic>
        <p:nvPicPr>
          <p:cNvPr id="5" name="Imagen 4">
            <a:extLst>
              <a:ext uri="{FF2B5EF4-FFF2-40B4-BE49-F238E27FC236}">
                <a16:creationId xmlns:a16="http://schemas.microsoft.com/office/drawing/2014/main" id="{EF719267-A2B2-7AC0-17A1-CAEDE410E9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CuadroTexto 5">
            <a:extLst>
              <a:ext uri="{FF2B5EF4-FFF2-40B4-BE49-F238E27FC236}">
                <a16:creationId xmlns:a16="http://schemas.microsoft.com/office/drawing/2014/main" id="{F6AD7FFF-B901-550A-A45E-C32C962E63F0}"/>
              </a:ext>
            </a:extLst>
          </p:cNvPr>
          <p:cNvSpPr txBox="1"/>
          <p:nvPr/>
        </p:nvSpPr>
        <p:spPr>
          <a:xfrm>
            <a:off x="997528" y="433449"/>
            <a:ext cx="8538358" cy="523220"/>
          </a:xfrm>
          <a:prstGeom prst="rect">
            <a:avLst/>
          </a:prstGeom>
          <a:noFill/>
        </p:spPr>
        <p:txBody>
          <a:bodyPr wrap="square" rtlCol="0">
            <a:spAutoFit/>
          </a:bodyPr>
          <a:lstStyle/>
          <a:p>
            <a:r>
              <a:rPr lang="es-MX" sz="2800" dirty="0">
                <a:latin typeface="Bodoni MT Black" panose="02070A03080606020203" pitchFamily="18" charset="0"/>
              </a:rPr>
              <a:t>Selecciona la variedad adecuada:</a:t>
            </a:r>
          </a:p>
        </p:txBody>
      </p:sp>
      <p:sp>
        <p:nvSpPr>
          <p:cNvPr id="7" name="CuadroTexto 6">
            <a:extLst>
              <a:ext uri="{FF2B5EF4-FFF2-40B4-BE49-F238E27FC236}">
                <a16:creationId xmlns:a16="http://schemas.microsoft.com/office/drawing/2014/main" id="{DF85CB08-B30A-36CA-2F6A-26E02A6F50C9}"/>
              </a:ext>
            </a:extLst>
          </p:cNvPr>
          <p:cNvSpPr txBox="1"/>
          <p:nvPr/>
        </p:nvSpPr>
        <p:spPr>
          <a:xfrm>
            <a:off x="190006" y="1390118"/>
            <a:ext cx="5997039" cy="2677656"/>
          </a:xfrm>
          <a:prstGeom prst="rect">
            <a:avLst/>
          </a:prstGeom>
          <a:noFill/>
        </p:spPr>
        <p:txBody>
          <a:bodyPr wrap="square" rtlCol="0">
            <a:spAutoFit/>
          </a:bodyPr>
          <a:lstStyle/>
          <a:p>
            <a:r>
              <a:rPr lang="es-MX" sz="2800" dirty="0">
                <a:latin typeface="Arabic Typesetting" panose="03020402040406030203" pitchFamily="66" charset="-78"/>
                <a:cs typeface="Arabic Typesetting" panose="03020402040406030203" pitchFamily="66" charset="-78"/>
              </a:rPr>
              <a:t>Lo primero es elegir la variedad de sandía que más te guste o que mejor se adapte a tu clima. Hay de todo: algunas sin semillas, otras con pulpa roja, amarilla o hasta de colores más raros. Depende de lo que busques, pero siempre asegúrate de que se adapte a las temperaturas de tu zona.</a:t>
            </a:r>
          </a:p>
        </p:txBody>
      </p:sp>
      <p:pic>
        <p:nvPicPr>
          <p:cNvPr id="8" name="Imagen 7">
            <a:extLst>
              <a:ext uri="{FF2B5EF4-FFF2-40B4-BE49-F238E27FC236}">
                <a16:creationId xmlns:a16="http://schemas.microsoft.com/office/drawing/2014/main" id="{10916418-0A38-7A35-F0F8-A633681D0E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4628" y="977335"/>
            <a:ext cx="3943372" cy="2677656"/>
          </a:xfrm>
          <a:prstGeom prst="rect">
            <a:avLst/>
          </a:prstGeom>
          <a:solidFill>
            <a:srgbClr val="FFFFFF">
              <a:shade val="85000"/>
            </a:srgbClr>
          </a:solidFill>
          <a:ln w="190500" cap="rnd">
            <a:solidFill>
              <a:srgbClr val="7F8078"/>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878018099"/>
      </p:ext>
    </p:extLst>
  </p:cSld>
  <p:clrMapOvr>
    <a:masterClrMapping/>
  </p:clrMapOvr>
  <p:transition spd="slow">
    <p:push dir="u"/>
    <p:sndAc>
      <p:stSnd>
        <p:snd r:embed="rId2" name="camera.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E6B01F2-259D-C69E-F4E6-3409FC088A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CuadroTexto 3">
            <a:extLst>
              <a:ext uri="{FF2B5EF4-FFF2-40B4-BE49-F238E27FC236}">
                <a16:creationId xmlns:a16="http://schemas.microsoft.com/office/drawing/2014/main" id="{DFED60CA-4E74-06ED-0634-4D9CB9DECF5A}"/>
              </a:ext>
            </a:extLst>
          </p:cNvPr>
          <p:cNvSpPr txBox="1"/>
          <p:nvPr/>
        </p:nvSpPr>
        <p:spPr>
          <a:xfrm>
            <a:off x="3170711" y="154203"/>
            <a:ext cx="4512624" cy="523220"/>
          </a:xfrm>
          <a:prstGeom prst="rect">
            <a:avLst/>
          </a:prstGeom>
          <a:noFill/>
        </p:spPr>
        <p:txBody>
          <a:bodyPr wrap="square" rtlCol="0">
            <a:spAutoFit/>
          </a:bodyPr>
          <a:lstStyle/>
          <a:p>
            <a:pPr algn="ctr"/>
            <a:r>
              <a:rPr lang="es-MX" sz="2800" dirty="0">
                <a:latin typeface="Bodoni MT Black" panose="02070A03080606020203" pitchFamily="18" charset="0"/>
              </a:rPr>
              <a:t>Prepara bien el suelo:</a:t>
            </a:r>
          </a:p>
        </p:txBody>
      </p:sp>
      <p:sp>
        <p:nvSpPr>
          <p:cNvPr id="5" name="CuadroTexto 4">
            <a:extLst>
              <a:ext uri="{FF2B5EF4-FFF2-40B4-BE49-F238E27FC236}">
                <a16:creationId xmlns:a16="http://schemas.microsoft.com/office/drawing/2014/main" id="{209BFE39-9C40-129E-07B4-FEE96A136594}"/>
              </a:ext>
            </a:extLst>
          </p:cNvPr>
          <p:cNvSpPr txBox="1"/>
          <p:nvPr/>
        </p:nvSpPr>
        <p:spPr>
          <a:xfrm>
            <a:off x="6094021" y="831626"/>
            <a:ext cx="5739740" cy="2677656"/>
          </a:xfrm>
          <a:prstGeom prst="rect">
            <a:avLst/>
          </a:prstGeom>
          <a:noFill/>
        </p:spPr>
        <p:txBody>
          <a:bodyPr wrap="square" rtlCol="0">
            <a:spAutoFit/>
          </a:bodyPr>
          <a:lstStyle/>
          <a:p>
            <a:r>
              <a:rPr lang="es-MX" sz="2800" dirty="0">
                <a:latin typeface="Arabic Typesetting" panose="03020402040406030203" pitchFamily="66" charset="-78"/>
                <a:cs typeface="Arabic Typesetting" panose="03020402040406030203" pitchFamily="66" charset="-78"/>
              </a:rPr>
              <a:t>Las sandías no piden un suelo cualquiera. Necesitan algo bien suelto, que drene bien el agua. Asegúrate de remover las malas hierbas y de labrar bien la tierra, porque sus raíces necesitan espacio. También es una buena idea añadir algo de abono o compost para darle un empujón al suelo.</a:t>
            </a:r>
          </a:p>
        </p:txBody>
      </p:sp>
      <p:pic>
        <p:nvPicPr>
          <p:cNvPr id="6" name="Imagen 5">
            <a:extLst>
              <a:ext uri="{FF2B5EF4-FFF2-40B4-BE49-F238E27FC236}">
                <a16:creationId xmlns:a16="http://schemas.microsoft.com/office/drawing/2014/main" id="{B4FD11A1-7D1A-A918-063F-557717FB34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4050" y="932777"/>
            <a:ext cx="4011713" cy="5348951"/>
          </a:xfrm>
          <a:prstGeom prst="rect">
            <a:avLst/>
          </a:prstGeom>
          <a:solidFill>
            <a:srgbClr val="FFFFFF">
              <a:shade val="85000"/>
            </a:srgbClr>
          </a:solidFill>
          <a:ln w="190500" cap="rnd">
            <a:solidFill>
              <a:srgbClr val="FA7E90"/>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362561428"/>
      </p:ext>
    </p:extLst>
  </p:cSld>
  <p:clrMapOvr>
    <a:masterClrMapping/>
  </p:clrMapOvr>
  <p:transition spd="med">
    <p:pull/>
    <p:sndAc>
      <p:stSnd>
        <p:snd r:embed="rId2"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2539A58-F8CA-7E56-9F0A-8E8BE71ADD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CuadroTexto 3">
            <a:extLst>
              <a:ext uri="{FF2B5EF4-FFF2-40B4-BE49-F238E27FC236}">
                <a16:creationId xmlns:a16="http://schemas.microsoft.com/office/drawing/2014/main" id="{0C4A160A-068A-F796-147F-C9F4DB966296}"/>
              </a:ext>
            </a:extLst>
          </p:cNvPr>
          <p:cNvSpPr txBox="1"/>
          <p:nvPr/>
        </p:nvSpPr>
        <p:spPr>
          <a:xfrm>
            <a:off x="451264" y="190005"/>
            <a:ext cx="4180114" cy="523220"/>
          </a:xfrm>
          <a:prstGeom prst="rect">
            <a:avLst/>
          </a:prstGeom>
          <a:noFill/>
        </p:spPr>
        <p:txBody>
          <a:bodyPr wrap="square" rtlCol="0">
            <a:spAutoFit/>
          </a:bodyPr>
          <a:lstStyle/>
          <a:p>
            <a:r>
              <a:rPr lang="es-MX" sz="2800" dirty="0">
                <a:latin typeface="Bodoni MT Black" panose="02070A03080606020203" pitchFamily="18" charset="0"/>
              </a:rPr>
              <a:t>Siembra las semillas:</a:t>
            </a:r>
          </a:p>
        </p:txBody>
      </p:sp>
      <p:sp>
        <p:nvSpPr>
          <p:cNvPr id="5" name="CuadroTexto 4">
            <a:extLst>
              <a:ext uri="{FF2B5EF4-FFF2-40B4-BE49-F238E27FC236}">
                <a16:creationId xmlns:a16="http://schemas.microsoft.com/office/drawing/2014/main" id="{A125265E-B9E3-10C9-7640-26919D9E9C6D}"/>
              </a:ext>
            </a:extLst>
          </p:cNvPr>
          <p:cNvSpPr txBox="1"/>
          <p:nvPr/>
        </p:nvSpPr>
        <p:spPr>
          <a:xfrm>
            <a:off x="591787" y="713225"/>
            <a:ext cx="11008426" cy="1938992"/>
          </a:xfrm>
          <a:prstGeom prst="rect">
            <a:avLst/>
          </a:prstGeom>
          <a:noFill/>
        </p:spPr>
        <p:txBody>
          <a:bodyPr wrap="square" rtlCol="0">
            <a:spAutoFit/>
          </a:bodyPr>
          <a:lstStyle/>
          <a:p>
            <a:r>
              <a:rPr lang="es-MX" sz="2400" dirty="0">
                <a:latin typeface="Baskerville Old Face" panose="02020602080505020303" pitchFamily="18" charset="0"/>
                <a:cs typeface="Arabic Typesetting" panose="03020402040406030203" pitchFamily="66" charset="-78"/>
              </a:rPr>
              <a:t>Puedes sembrar las semillas directamente en la tierra o iniciar en semilleros. Si lo haces en el campo, ponlas a unos 2-3 cm de profundidad, dejando espacio entre cada una, porque las plantas van a crecer mucho. Si prefieres sembrar en semillero, hazlo unas 4-6 semanas antes de la última helada, y cuando las plántulas tengan 3-4 hojas, ya las puedes trasplantar.</a:t>
            </a:r>
          </a:p>
        </p:txBody>
      </p:sp>
      <p:pic>
        <p:nvPicPr>
          <p:cNvPr id="6" name="Imagen 5">
            <a:extLst>
              <a:ext uri="{FF2B5EF4-FFF2-40B4-BE49-F238E27FC236}">
                <a16:creationId xmlns:a16="http://schemas.microsoft.com/office/drawing/2014/main" id="{C316B28D-3107-C71C-AC09-EE0A5230E9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7235" y="2351313"/>
            <a:ext cx="4621479" cy="3385458"/>
          </a:xfrm>
          <a:prstGeom prst="ellipse">
            <a:avLst/>
          </a:prstGeom>
          <a:ln w="63500" cap="rnd">
            <a:solidFill>
              <a:srgbClr val="FA7E9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4007223153"/>
      </p:ext>
    </p:extLst>
  </p:cSld>
  <p:clrMapOvr>
    <a:masterClrMapping/>
  </p:clrMapOvr>
  <mc:AlternateContent xmlns:mc="http://schemas.openxmlformats.org/markup-compatibility/2006">
    <mc:Choice xmlns:p14="http://schemas.microsoft.com/office/powerpoint/2010/main" Requires="p14">
      <p:transition spd="slow" p14:dur="800">
        <p14:flythrough/>
        <p:sndAc>
          <p:stSnd>
            <p:snd r:embed="rId2" name="type.wav"/>
          </p:stSnd>
        </p:sndAc>
      </p:transition>
    </mc:Choice>
    <mc:Fallback>
      <p:transition spd="slow">
        <p:fade/>
        <p:sndAc>
          <p:stSnd>
            <p:snd r:embed="rId2" name="type.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D04B5F6-C85A-5D00-D07F-04CE719862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CuadroTexto 3">
            <a:extLst>
              <a:ext uri="{FF2B5EF4-FFF2-40B4-BE49-F238E27FC236}">
                <a16:creationId xmlns:a16="http://schemas.microsoft.com/office/drawing/2014/main" id="{524F2737-485B-E0C8-6248-E79A65D2B856}"/>
              </a:ext>
            </a:extLst>
          </p:cNvPr>
          <p:cNvSpPr txBox="1"/>
          <p:nvPr/>
        </p:nvSpPr>
        <p:spPr>
          <a:xfrm>
            <a:off x="457200" y="151825"/>
            <a:ext cx="3810000"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MX" sz="3200" dirty="0">
                <a:latin typeface="Bodoni MT Black" panose="02070A03080606020203" pitchFamily="18" charset="0"/>
              </a:rPr>
              <a:t>Riego constante:</a:t>
            </a:r>
          </a:p>
        </p:txBody>
      </p:sp>
      <p:sp>
        <p:nvSpPr>
          <p:cNvPr id="5" name="CuadroTexto 4">
            <a:extLst>
              <a:ext uri="{FF2B5EF4-FFF2-40B4-BE49-F238E27FC236}">
                <a16:creationId xmlns:a16="http://schemas.microsoft.com/office/drawing/2014/main" id="{DFB3056E-EDE5-88D8-D567-1D77D388F3B4}"/>
              </a:ext>
            </a:extLst>
          </p:cNvPr>
          <p:cNvSpPr txBox="1"/>
          <p:nvPr/>
        </p:nvSpPr>
        <p:spPr>
          <a:xfrm>
            <a:off x="127000" y="1041400"/>
            <a:ext cx="4876800" cy="267765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MX" sz="2000" dirty="0">
                <a:latin typeface="Baskerville Old Face" panose="02020602080505020303" pitchFamily="18" charset="0"/>
                <a:cs typeface="Arabic Typesetting" panose="03020402040406030203"/>
              </a:rPr>
              <a:t>A las sandías les gusta el agua, pero no demasiada. Durante el crecimiento y cuando empiezan a formar los frutos, necesitan que las riegues regularmente, mejor con un sistema de goteo, así evitas mojar las hojas y frutas. Ya cuando se acerque la cosecha, reduce un poco el riego, para que no se agrieten o pierdan sabor</a:t>
            </a:r>
            <a:r>
              <a:rPr lang="es-MX" sz="2800" dirty="0">
                <a:latin typeface="Arabic Typesetting" panose="03020402040406030203" pitchFamily="66" charset="-78"/>
                <a:cs typeface="Arabic Typesetting" panose="03020402040406030203"/>
              </a:rPr>
              <a:t>.</a:t>
            </a:r>
          </a:p>
        </p:txBody>
      </p:sp>
      <p:pic>
        <p:nvPicPr>
          <p:cNvPr id="6" name="Imagen 5">
            <a:extLst>
              <a:ext uri="{FF2B5EF4-FFF2-40B4-BE49-F238E27FC236}">
                <a16:creationId xmlns:a16="http://schemas.microsoft.com/office/drawing/2014/main" id="{7F131C75-4ECF-5E3F-8B46-2FDA24D44D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15884" y="693057"/>
            <a:ext cx="3344635" cy="4858657"/>
          </a:xfrm>
          <a:prstGeom prst="rect">
            <a:avLst/>
          </a:prstGeom>
          <a:ln>
            <a:solidFill>
              <a:srgbClr val="D0BFA9"/>
            </a:solidFill>
          </a:ln>
          <a:effectLst>
            <a:softEdge rad="112500"/>
          </a:effectLst>
        </p:spPr>
      </p:pic>
    </p:spTree>
    <p:extLst>
      <p:ext uri="{BB962C8B-B14F-4D97-AF65-F5344CB8AC3E}">
        <p14:creationId xmlns:p14="http://schemas.microsoft.com/office/powerpoint/2010/main" val="1906272374"/>
      </p:ext>
    </p:extLst>
  </p:cSld>
  <p:clrMapOvr>
    <a:masterClrMapping/>
  </p:clrMapOvr>
  <mc:AlternateContent xmlns:mc="http://schemas.openxmlformats.org/markup-compatibility/2006">
    <mc:Choice xmlns:p14="http://schemas.microsoft.com/office/powerpoint/2010/main" Requires="p14">
      <p:transition spd="slow" p14:dur="4400">
        <p14:honeycomb/>
        <p:sndAc>
          <p:stSnd>
            <p:snd r:embed="rId2" name="voltage.wav"/>
          </p:stSnd>
        </p:sndAc>
      </p:transition>
    </mc:Choice>
    <mc:Fallback>
      <p:transition spd="slow">
        <p:fade/>
        <p:sndAc>
          <p:stSnd>
            <p:snd r:embed="rId2" name="voltage.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E41D001-7D71-5D9B-D6B3-91056A40791D}"/>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6" name="CuadroTexto 5">
            <a:extLst>
              <a:ext uri="{FF2B5EF4-FFF2-40B4-BE49-F238E27FC236}">
                <a16:creationId xmlns:a16="http://schemas.microsoft.com/office/drawing/2014/main" id="{6DD2E61C-BDFD-FE44-A11C-0D242E27C954}"/>
              </a:ext>
            </a:extLst>
          </p:cNvPr>
          <p:cNvSpPr txBox="1"/>
          <p:nvPr/>
        </p:nvSpPr>
        <p:spPr>
          <a:xfrm>
            <a:off x="215900" y="622300"/>
            <a:ext cx="6616700" cy="523220"/>
          </a:xfrm>
          <a:prstGeom prst="rect">
            <a:avLst/>
          </a:prstGeom>
          <a:noFill/>
        </p:spPr>
        <p:txBody>
          <a:bodyPr wrap="square" rtlCol="0">
            <a:spAutoFit/>
          </a:bodyPr>
          <a:lstStyle/>
          <a:p>
            <a:r>
              <a:rPr lang="es-MX" sz="2800" dirty="0">
                <a:latin typeface="Bodoni MT Black" panose="02070A03080606020203" pitchFamily="18" charset="0"/>
              </a:rPr>
              <a:t>Mantén un ojo en la planta:</a:t>
            </a:r>
          </a:p>
        </p:txBody>
      </p:sp>
      <p:sp>
        <p:nvSpPr>
          <p:cNvPr id="7" name="CuadroTexto 6">
            <a:extLst>
              <a:ext uri="{FF2B5EF4-FFF2-40B4-BE49-F238E27FC236}">
                <a16:creationId xmlns:a16="http://schemas.microsoft.com/office/drawing/2014/main" id="{AEFE358C-A81B-0F50-7E19-E16F9A99EE05}"/>
              </a:ext>
            </a:extLst>
          </p:cNvPr>
          <p:cNvSpPr txBox="1"/>
          <p:nvPr/>
        </p:nvSpPr>
        <p:spPr>
          <a:xfrm>
            <a:off x="215900" y="1184751"/>
            <a:ext cx="6616700" cy="2246769"/>
          </a:xfrm>
          <a:prstGeom prst="rect">
            <a:avLst/>
          </a:prstGeom>
          <a:noFill/>
        </p:spPr>
        <p:txBody>
          <a:bodyPr wrap="square" rtlCol="0">
            <a:spAutoFit/>
          </a:bodyPr>
          <a:lstStyle/>
          <a:p>
            <a:r>
              <a:rPr lang="es-MX" sz="2800" dirty="0">
                <a:latin typeface="Arabic Typesetting" panose="03020402040406030203" pitchFamily="66" charset="-78"/>
                <a:cs typeface="Arabic Typesetting" panose="03020402040406030203" pitchFamily="66" charset="-78"/>
              </a:rPr>
              <a:t>Es importante podar las ramas laterales para que la planta concentre su energía en los frutos, no en hojas que no sirven mucho. También hay que vigilar que no se le peguen plagas, como pulgones o moscas blancas. Si ves algo raro, trata de controlarlo rápido.</a:t>
            </a:r>
          </a:p>
        </p:txBody>
      </p:sp>
      <p:pic>
        <p:nvPicPr>
          <p:cNvPr id="3" name="Imagen 2">
            <a:extLst>
              <a:ext uri="{FF2B5EF4-FFF2-40B4-BE49-F238E27FC236}">
                <a16:creationId xmlns:a16="http://schemas.microsoft.com/office/drawing/2014/main" id="{FF9ED056-4A49-1A1F-E431-A64E1B7372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8500" y="883910"/>
            <a:ext cx="3924000" cy="5049289"/>
          </a:xfrm>
          <a:prstGeom prst="rect">
            <a:avLst/>
          </a:prstGeom>
          <a:ln w="190500" cap="sq">
            <a:solidFill>
              <a:srgbClr val="C00000"/>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699161027"/>
      </p:ext>
    </p:extLst>
  </p:cSld>
  <p:clrMapOvr>
    <a:masterClrMapping/>
  </p:clrMapOvr>
  <mc:AlternateContent xmlns:mc="http://schemas.openxmlformats.org/markup-compatibility/2006">
    <mc:Choice xmlns:p14="http://schemas.microsoft.com/office/powerpoint/2010/main" Requires="p14">
      <p:transition spd="slow" p14:dur="3400">
        <p14:reveal/>
        <p:sndAc>
          <p:stSnd>
            <p:snd r:embed="rId2" name="bomb.wav"/>
          </p:stSnd>
        </p:sndAc>
      </p:transition>
    </mc:Choice>
    <mc:Fallback>
      <p:transition spd="slow">
        <p:fade/>
        <p:sndAc>
          <p:stSnd>
            <p:snd r:embed="rId2" name="bomb.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583F875-C3D3-24AB-0CEE-A0C299755673}"/>
              </a:ext>
            </a:extLst>
          </p:cNvPr>
          <p:cNvPicPr>
            <a:picLocks noChangeAspect="1"/>
          </p:cNvPicPr>
          <p:nvPr/>
        </p:nvPicPr>
        <p:blipFill>
          <a:blip r:embed="rId3">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a:ln/>
        </p:spPr>
        <p:style>
          <a:lnRef idx="2">
            <a:schemeClr val="accent2"/>
          </a:lnRef>
          <a:fillRef idx="1">
            <a:schemeClr val="lt1"/>
          </a:fillRef>
          <a:effectRef idx="0">
            <a:schemeClr val="accent2"/>
          </a:effectRef>
          <a:fontRef idx="minor">
            <a:schemeClr val="dk1"/>
          </a:fontRef>
        </p:style>
      </p:pic>
      <p:sp>
        <p:nvSpPr>
          <p:cNvPr id="4" name="CuadroTexto 3">
            <a:extLst>
              <a:ext uri="{FF2B5EF4-FFF2-40B4-BE49-F238E27FC236}">
                <a16:creationId xmlns:a16="http://schemas.microsoft.com/office/drawing/2014/main" id="{9BBC4C92-4EEF-853F-C1C8-3E977B0E4AFA}"/>
              </a:ext>
            </a:extLst>
          </p:cNvPr>
          <p:cNvSpPr txBox="1"/>
          <p:nvPr/>
        </p:nvSpPr>
        <p:spPr>
          <a:xfrm>
            <a:off x="6038850" y="3531175"/>
            <a:ext cx="5969000" cy="3046988"/>
          </a:xfrm>
          <a:prstGeom prst="rect">
            <a:avLst/>
          </a:prstGeom>
          <a:solidFill>
            <a:srgbClr val="D09D5B"/>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s-MX" sz="3200" dirty="0">
                <a:latin typeface="Arabic Typesetting" panose="03020402040406030203" pitchFamily="66" charset="-78"/>
                <a:cs typeface="Arabic Typesetting" panose="03020402040406030203" pitchFamily="66" charset="-78"/>
              </a:rPr>
              <a:t>La sandía está lista cuando la cáscara está bien dura y, si la golpeas, suena hueca. También fíjate en la parte de abajo: si empieza a ponerse amarilla, es señal de que ya está madura. Cuando la coseches, corta un pedazo de tallo, para que aguante más.</a:t>
            </a:r>
          </a:p>
        </p:txBody>
      </p:sp>
      <p:sp>
        <p:nvSpPr>
          <p:cNvPr id="5" name="CuadroTexto 4">
            <a:extLst>
              <a:ext uri="{FF2B5EF4-FFF2-40B4-BE49-F238E27FC236}">
                <a16:creationId xmlns:a16="http://schemas.microsoft.com/office/drawing/2014/main" id="{0C2EA13F-D141-E00D-3283-4F39FF262794}"/>
              </a:ext>
            </a:extLst>
          </p:cNvPr>
          <p:cNvSpPr txBox="1"/>
          <p:nvPr/>
        </p:nvSpPr>
        <p:spPr>
          <a:xfrm>
            <a:off x="4622800" y="165100"/>
            <a:ext cx="2679700" cy="584775"/>
          </a:xfrm>
          <a:prstGeom prst="rect">
            <a:avLst/>
          </a:prstGeom>
          <a:noFill/>
        </p:spPr>
        <p:txBody>
          <a:bodyPr wrap="square" rtlCol="0">
            <a:spAutoFit/>
          </a:bodyPr>
          <a:lstStyle/>
          <a:p>
            <a:pPr algn="ctr"/>
            <a:r>
              <a:rPr lang="es-MX" sz="3200" dirty="0">
                <a:latin typeface="Bodoni MT Black" panose="02070A03080606020203" pitchFamily="18" charset="0"/>
              </a:rPr>
              <a:t>Cosecha:</a:t>
            </a:r>
          </a:p>
        </p:txBody>
      </p:sp>
      <p:pic>
        <p:nvPicPr>
          <p:cNvPr id="6" name="Imagen 5">
            <a:extLst>
              <a:ext uri="{FF2B5EF4-FFF2-40B4-BE49-F238E27FC236}">
                <a16:creationId xmlns:a16="http://schemas.microsoft.com/office/drawing/2014/main" id="{2D5D780A-7520-D7CC-A81B-A246B22D53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6821" y="2039937"/>
            <a:ext cx="3266622" cy="3528000"/>
          </a:xfrm>
          <a:prstGeom prst="rect">
            <a:avLst/>
          </a:prstGeom>
          <a:effectLst>
            <a:glow rad="139700">
              <a:schemeClr val="accent2">
                <a:satMod val="175000"/>
                <a:alpha val="40000"/>
              </a:schemeClr>
            </a:glow>
          </a:effectLst>
        </p:spPr>
      </p:pic>
    </p:spTree>
    <p:extLst>
      <p:ext uri="{BB962C8B-B14F-4D97-AF65-F5344CB8AC3E}">
        <p14:creationId xmlns:p14="http://schemas.microsoft.com/office/powerpoint/2010/main" val="1127314256"/>
      </p:ext>
    </p:extLst>
  </p:cSld>
  <p:clrMapOvr>
    <a:masterClrMapping/>
  </p:clrMapOvr>
  <mc:AlternateContent xmlns:mc="http://schemas.openxmlformats.org/markup-compatibility/2006">
    <mc:Choice xmlns:p14="http://schemas.microsoft.com/office/powerpoint/2010/main" Requires="p14">
      <p:transition spd="med" p14:dur="700">
        <p:fade/>
        <p:sndAc>
          <p:stSnd>
            <p:snd r:embed="rId2" name="push.wav"/>
          </p:stSnd>
        </p:sndAc>
      </p:transition>
    </mc:Choice>
    <mc:Fallback>
      <p:transition spd="med">
        <p:fade/>
        <p:sndAc>
          <p:stSnd>
            <p:snd r:embed="rId2" name="push.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2" name="Entrada de lápiz 1">
                <a:extLst>
                  <a:ext uri="{FF2B5EF4-FFF2-40B4-BE49-F238E27FC236}">
                    <a16:creationId xmlns:a16="http://schemas.microsoft.com/office/drawing/2014/main" id="{FE96EE8C-13FA-7269-C0A6-09D10DE70774}"/>
                  </a:ext>
                </a:extLst>
              </p14:cNvPr>
              <p14:cNvContentPartPr/>
              <p14:nvPr/>
            </p14:nvContentPartPr>
            <p14:xfrm>
              <a:off x="508100" y="698620"/>
              <a:ext cx="360" cy="360"/>
            </p14:xfrm>
          </p:contentPart>
        </mc:Choice>
        <mc:Fallback xmlns="">
          <p:pic>
            <p:nvPicPr>
              <p:cNvPr id="2" name="Entrada de lápiz 1">
                <a:extLst>
                  <a:ext uri="{FF2B5EF4-FFF2-40B4-BE49-F238E27FC236}">
                    <a16:creationId xmlns:a16="http://schemas.microsoft.com/office/drawing/2014/main" id="{FE96EE8C-13FA-7269-C0A6-09D10DE70774}"/>
                  </a:ext>
                </a:extLst>
              </p:cNvPr>
              <p:cNvPicPr/>
              <p:nvPr/>
            </p:nvPicPr>
            <p:blipFill>
              <a:blip r:embed="rId4"/>
              <a:stretch>
                <a:fillRect/>
              </a:stretch>
            </p:blipFill>
            <p:spPr>
              <a:xfrm>
                <a:off x="499460" y="6896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Entrada de lápiz 2">
                <a:extLst>
                  <a:ext uri="{FF2B5EF4-FFF2-40B4-BE49-F238E27FC236}">
                    <a16:creationId xmlns:a16="http://schemas.microsoft.com/office/drawing/2014/main" id="{1384FD15-E451-A5D1-F93B-2BA5A2E14315}"/>
                  </a:ext>
                </a:extLst>
              </p14:cNvPr>
              <p14:cNvContentPartPr/>
              <p14:nvPr/>
            </p14:nvContentPartPr>
            <p14:xfrm>
              <a:off x="1663700" y="5638540"/>
              <a:ext cx="360" cy="360"/>
            </p14:xfrm>
          </p:contentPart>
        </mc:Choice>
        <mc:Fallback xmlns="">
          <p:pic>
            <p:nvPicPr>
              <p:cNvPr id="3" name="Entrada de lápiz 2">
                <a:extLst>
                  <a:ext uri="{FF2B5EF4-FFF2-40B4-BE49-F238E27FC236}">
                    <a16:creationId xmlns:a16="http://schemas.microsoft.com/office/drawing/2014/main" id="{1384FD15-E451-A5D1-F93B-2BA5A2E14315}"/>
                  </a:ext>
                </a:extLst>
              </p:cNvPr>
              <p:cNvPicPr/>
              <p:nvPr/>
            </p:nvPicPr>
            <p:blipFill>
              <a:blip r:embed="rId6"/>
              <a:stretch>
                <a:fillRect/>
              </a:stretch>
            </p:blipFill>
            <p:spPr>
              <a:xfrm>
                <a:off x="1646060" y="5620540"/>
                <a:ext cx="36000" cy="36000"/>
              </a:xfrm>
              <a:prstGeom prst="rect">
                <a:avLst/>
              </a:prstGeom>
            </p:spPr>
          </p:pic>
        </mc:Fallback>
      </mc:AlternateContent>
      <p:pic>
        <p:nvPicPr>
          <p:cNvPr id="7" name="Imagen 6">
            <a:extLst>
              <a:ext uri="{FF2B5EF4-FFF2-40B4-BE49-F238E27FC236}">
                <a16:creationId xmlns:a16="http://schemas.microsoft.com/office/drawing/2014/main" id="{176B7467-59CB-EDD0-4285-918F6526DE9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CuadroTexto 7">
            <a:extLst>
              <a:ext uri="{FF2B5EF4-FFF2-40B4-BE49-F238E27FC236}">
                <a16:creationId xmlns:a16="http://schemas.microsoft.com/office/drawing/2014/main" id="{2ACA2071-A03A-3F6F-6344-3601AF02C02B}"/>
              </a:ext>
            </a:extLst>
          </p:cNvPr>
          <p:cNvSpPr txBox="1"/>
          <p:nvPr/>
        </p:nvSpPr>
        <p:spPr>
          <a:xfrm>
            <a:off x="4178400" y="406232"/>
            <a:ext cx="3504740" cy="5847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sz="3200" dirty="0">
                <a:latin typeface="Bodoni MT Black" panose="02070A03080606020203" pitchFamily="18" charset="0"/>
              </a:rPr>
              <a:t>Reflexión:</a:t>
            </a:r>
          </a:p>
        </p:txBody>
      </p:sp>
      <p:sp>
        <p:nvSpPr>
          <p:cNvPr id="9" name="CuadroTexto 8">
            <a:extLst>
              <a:ext uri="{FF2B5EF4-FFF2-40B4-BE49-F238E27FC236}">
                <a16:creationId xmlns:a16="http://schemas.microsoft.com/office/drawing/2014/main" id="{2D1470EC-4215-210C-17F8-810976A21099}"/>
              </a:ext>
            </a:extLst>
          </p:cNvPr>
          <p:cNvSpPr txBox="1"/>
          <p:nvPr/>
        </p:nvSpPr>
        <p:spPr>
          <a:xfrm>
            <a:off x="152400" y="1240062"/>
            <a:ext cx="7162440" cy="461665"/>
          </a:xfrm>
          <a:prstGeom prst="rect">
            <a:avLst/>
          </a:prstGeom>
          <a:solidFill>
            <a:srgbClr val="E7C272"/>
          </a:solidFill>
        </p:spPr>
        <p:txBody>
          <a:bodyPr wrap="square" rtlCol="0">
            <a:spAutoFit/>
          </a:bodyPr>
          <a:lstStyle/>
          <a:p>
            <a:r>
              <a:rPr lang="es-MX" sz="2400" dirty="0">
                <a:latin typeface="Bell MT" panose="02020503060305020303" pitchFamily="18" charset="0"/>
              </a:rPr>
              <a:t>¿Que pasaría si la milpa maya desapareciera?</a:t>
            </a:r>
          </a:p>
        </p:txBody>
      </p:sp>
      <p:sp>
        <p:nvSpPr>
          <p:cNvPr id="10" name="CuadroTexto 9">
            <a:extLst>
              <a:ext uri="{FF2B5EF4-FFF2-40B4-BE49-F238E27FC236}">
                <a16:creationId xmlns:a16="http://schemas.microsoft.com/office/drawing/2014/main" id="{6D8FA610-348F-3F29-7B2B-305E74F97028}"/>
              </a:ext>
            </a:extLst>
          </p:cNvPr>
          <p:cNvSpPr txBox="1"/>
          <p:nvPr/>
        </p:nvSpPr>
        <p:spPr>
          <a:xfrm>
            <a:off x="292100" y="2247900"/>
            <a:ext cx="7022740" cy="132343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MX" sz="2000" dirty="0">
                <a:latin typeface="Centaur" panose="02030504050205020304" pitchFamily="18" charset="0"/>
              </a:rPr>
              <a:t>Si la milpa maya, que es una forma de agricultura tradicional de los pueblos indígenas en Mesoamérica, desapareciera, tendría varias consecuencias significativas, tanto en términos ecológicos como culturales y sociales. </a:t>
            </a:r>
          </a:p>
        </p:txBody>
      </p:sp>
      <p:sp>
        <p:nvSpPr>
          <p:cNvPr id="16" name="CuadroTexto 15">
            <a:extLst>
              <a:ext uri="{FF2B5EF4-FFF2-40B4-BE49-F238E27FC236}">
                <a16:creationId xmlns:a16="http://schemas.microsoft.com/office/drawing/2014/main" id="{349C1CA1-183C-BF65-F154-437F37F9613B}"/>
              </a:ext>
            </a:extLst>
          </p:cNvPr>
          <p:cNvSpPr txBox="1"/>
          <p:nvPr/>
        </p:nvSpPr>
        <p:spPr>
          <a:xfrm>
            <a:off x="292100" y="3889422"/>
            <a:ext cx="4456096" cy="196977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MX" sz="2400" b="1" dirty="0">
                <a:solidFill>
                  <a:srgbClr val="0070C0"/>
                </a:solidFill>
                <a:latin typeface="Bell MT" panose="02020503060305020303" pitchFamily="18" charset="0"/>
              </a:rPr>
              <a:t>Dato curioso:</a:t>
            </a:r>
          </a:p>
          <a:p>
            <a:r>
              <a:rPr lang="es-MX" sz="1400" dirty="0">
                <a:latin typeface="Bell MT" panose="02020503060305020303" pitchFamily="18" charset="0"/>
              </a:rPr>
              <a:t>Además, se cree que los mayas cultivaban diversas variedades de sandía, algunas de las cuales eran pequeñas y muy dulces, mientras que otras eran más grandes y con menos azúcar. La sandía formaba parte de su dieta en fresco y también en combinaciones con otros ingredientes locales, como el </a:t>
            </a:r>
            <a:r>
              <a:rPr lang="es-MX" sz="1400" b="1" dirty="0">
                <a:latin typeface="Bell MT" panose="02020503060305020303" pitchFamily="18" charset="0"/>
              </a:rPr>
              <a:t>chile</a:t>
            </a:r>
            <a:r>
              <a:rPr lang="es-MX" sz="1400" dirty="0">
                <a:latin typeface="Bell MT" panose="02020503060305020303" pitchFamily="18" charset="0"/>
              </a:rPr>
              <a:t>, la </a:t>
            </a:r>
            <a:r>
              <a:rPr lang="es-MX" sz="1400" b="1" dirty="0">
                <a:latin typeface="Bell MT" panose="02020503060305020303" pitchFamily="18" charset="0"/>
              </a:rPr>
              <a:t>sal</a:t>
            </a:r>
            <a:r>
              <a:rPr lang="es-MX" sz="1400" dirty="0">
                <a:latin typeface="Bell MT" panose="02020503060305020303" pitchFamily="18" charset="0"/>
              </a:rPr>
              <a:t> o el </a:t>
            </a:r>
            <a:r>
              <a:rPr lang="es-MX" sz="1400" b="1" dirty="0">
                <a:latin typeface="Bell MT" panose="02020503060305020303" pitchFamily="18" charset="0"/>
              </a:rPr>
              <a:t>limón</a:t>
            </a:r>
            <a:r>
              <a:rPr lang="es-MX" sz="1400" dirty="0">
                <a:latin typeface="Bell MT" panose="02020503060305020303" pitchFamily="18" charset="0"/>
              </a:rPr>
              <a:t> (estos últimos agregados en forma de condimento</a:t>
            </a:r>
            <a:r>
              <a:rPr lang="es-MX" sz="1200" dirty="0">
                <a:latin typeface="Bell MT" panose="02020503060305020303" pitchFamily="18" charset="0"/>
              </a:rPr>
              <a:t>).</a:t>
            </a:r>
          </a:p>
        </p:txBody>
      </p:sp>
      <p:pic>
        <p:nvPicPr>
          <p:cNvPr id="5" name="Imagen 4">
            <a:extLst>
              <a:ext uri="{FF2B5EF4-FFF2-40B4-BE49-F238E27FC236}">
                <a16:creationId xmlns:a16="http://schemas.microsoft.com/office/drawing/2014/main" id="{A41A6172-D809-8E19-53A3-35B33D3F447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53000" y="3699000"/>
            <a:ext cx="3816000" cy="2862000"/>
          </a:xfrm>
          <a:prstGeom prst="rect">
            <a:avLst/>
          </a:prstGeom>
        </p:spPr>
      </p:pic>
    </p:spTree>
    <p:extLst>
      <p:ext uri="{BB962C8B-B14F-4D97-AF65-F5344CB8AC3E}">
        <p14:creationId xmlns:p14="http://schemas.microsoft.com/office/powerpoint/2010/main" val="4175377248"/>
      </p:ext>
    </p:extLst>
  </p:cSld>
  <p:clrMapOvr>
    <a:masterClrMapping/>
  </p:clrMapOvr>
  <mc:AlternateContent xmlns:mc="http://schemas.openxmlformats.org/markup-compatibility/2006">
    <mc:Choice xmlns:p14="http://schemas.microsoft.com/office/powerpoint/2010/main" Requires="p14">
      <p:transition spd="slow" p14:dur="1400">
        <p14:ripple/>
        <p:sndAc>
          <p:stSnd>
            <p:snd r:embed="rId2" name="applause.wav"/>
          </p:stSnd>
        </p:sndAc>
      </p:transition>
    </mc:Choice>
    <mc:Fallback>
      <p:transition spd="slow">
        <p:fade/>
        <p:sndAc>
          <p:stSnd>
            <p:snd r:embed="rId2" name="applause.wav"/>
          </p:stSnd>
        </p:sndAc>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TotalTime>
  <Words>540</Words>
  <Application>Microsoft Office PowerPoint</Application>
  <PresentationFormat>Panorámica</PresentationFormat>
  <Paragraphs>22</Paragraphs>
  <Slides>8</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8</vt:i4>
      </vt:variant>
    </vt:vector>
  </HeadingPairs>
  <TitlesOfParts>
    <vt:vector size="17" baseType="lpstr">
      <vt:lpstr>Arabic Typesetting</vt:lpstr>
      <vt:lpstr>Arial</vt:lpstr>
      <vt:lpstr>Baskerville Old Face</vt:lpstr>
      <vt:lpstr>Bell MT</vt:lpstr>
      <vt:lpstr>Bodoni MT Black</vt:lpstr>
      <vt:lpstr>Calibri</vt:lpstr>
      <vt:lpstr>Calibri Light</vt:lpstr>
      <vt:lpstr>Centaur</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Clemente Peraza</dc:creator>
  <cp:lastModifiedBy>Clemente Peraza</cp:lastModifiedBy>
  <cp:revision>4</cp:revision>
  <dcterms:created xsi:type="dcterms:W3CDTF">2026-03-17T04:14:51Z</dcterms:created>
  <dcterms:modified xsi:type="dcterms:W3CDTF">2026-03-18T03:10:23Z</dcterms:modified>
</cp:coreProperties>
</file>